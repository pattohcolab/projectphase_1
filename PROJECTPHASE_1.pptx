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301" r:id="rId6"/>
    <p:sldId id="302" r:id="rId7"/>
    <p:sldId id="303" r:id="rId8"/>
    <p:sldId id="304" r:id="rId9"/>
    <p:sldId id="306" r:id="rId10"/>
    <p:sldId id="307" r:id="rId11"/>
    <p:sldId id="308" r:id="rId12"/>
    <p:sldId id="309" r:id="rId13"/>
    <p:sldId id="310" r:id="rId14"/>
    <p:sldId id="311" r:id="rId15"/>
    <p:sldId id="312" r:id="rId16"/>
    <p:sldId id="31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54" d="100"/>
          <a:sy n="54" d="100"/>
        </p:scale>
        <p:origin x="114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2/2/2026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2/2/2026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2/2/2026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2/2/2026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2/2/2026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2/2/2026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2/2/2026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2/2/2026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2/2/2026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2/2/2026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7909334" y="1366097"/>
            <a:ext cx="3635926" cy="3042363"/>
          </a:xfrm>
        </p:spPr>
        <p:txBody>
          <a:bodyPr anchor="b">
            <a:normAutofit fontScale="90000"/>
          </a:bodyPr>
          <a:lstStyle/>
          <a:p>
            <a:r>
              <a:rPr lang="en-US" sz="4400" dirty="0">
                <a:solidFill>
                  <a:schemeClr val="tx1"/>
                </a:solidFill>
              </a:rPr>
              <a:t>Title: </a:t>
            </a:r>
            <a:r>
              <a:rPr lang="en-US" sz="4400" dirty="0"/>
              <a:t>Aircraft Accident Analysis and Safety Insights</a:t>
            </a:r>
            <a:endParaRPr lang="en-US" sz="4400" dirty="0">
              <a:solidFill>
                <a:schemeClr val="tx1"/>
              </a:solidFill>
            </a:endParaRP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7987229" y="4608576"/>
            <a:ext cx="3346161" cy="774185"/>
          </a:xfrm>
        </p:spPr>
        <p:txBody>
          <a:bodyPr anchor="t">
            <a:normAutofit/>
          </a:bodyPr>
          <a:lstStyle/>
          <a:p>
            <a:pPr>
              <a:lnSpc>
                <a:spcPct val="100000"/>
              </a:lnSpc>
            </a:pPr>
            <a:r>
              <a:rPr lang="en-US" sz="1600" dirty="0"/>
              <a:t>PATRICK NJOROGE</a:t>
            </a:r>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F5D72-64AA-DC18-573B-5FD5343368DE}"/>
              </a:ext>
            </a:extLst>
          </p:cNvPr>
          <p:cNvSpPr>
            <a:spLocks noGrp="1"/>
          </p:cNvSpPr>
          <p:nvPr>
            <p:ph type="title"/>
          </p:nvPr>
        </p:nvSpPr>
        <p:spPr/>
        <p:txBody>
          <a:bodyPr/>
          <a:lstStyle/>
          <a:p>
            <a:r>
              <a:rPr lang="en-US" dirty="0"/>
              <a:t>BUSINESS UNDERSTANDING</a:t>
            </a:r>
            <a:br>
              <a:rPr lang="en-US" dirty="0"/>
            </a:br>
            <a:endParaRPr lang="en-US" dirty="0"/>
          </a:p>
        </p:txBody>
      </p:sp>
      <p:sp>
        <p:nvSpPr>
          <p:cNvPr id="3" name="Content Placeholder 2">
            <a:extLst>
              <a:ext uri="{FF2B5EF4-FFF2-40B4-BE49-F238E27FC236}">
                <a16:creationId xmlns:a16="http://schemas.microsoft.com/office/drawing/2014/main" id="{F5CD3038-B1AD-6D8C-59F1-DCDBEC9CDCB8}"/>
              </a:ext>
            </a:extLst>
          </p:cNvPr>
          <p:cNvSpPr>
            <a:spLocks noGrp="1"/>
          </p:cNvSpPr>
          <p:nvPr>
            <p:ph idx="1"/>
          </p:nvPr>
        </p:nvSpPr>
        <p:spPr/>
        <p:txBody>
          <a:bodyPr>
            <a:normAutofit fontScale="85000" lnSpcReduction="10000"/>
          </a:bodyPr>
          <a:lstStyle/>
          <a:p>
            <a:r>
              <a:rPr lang="en-US" b="1" dirty="0"/>
              <a:t>From a business / aviation safety perspective, stakeholders want to know:</a:t>
            </a:r>
          </a:p>
          <a:p>
            <a:pPr>
              <a:buFont typeface="Arial" panose="020B0604020202020204" pitchFamily="34" charset="0"/>
              <a:buChar char="•"/>
            </a:pPr>
            <a:r>
              <a:rPr lang="en-US" b="1" dirty="0"/>
              <a:t> Are accidents increasing or decreasing over time?</a:t>
            </a:r>
          </a:p>
          <a:p>
            <a:pPr>
              <a:buFont typeface="Arial" panose="020B0604020202020204" pitchFamily="34" charset="0"/>
              <a:buChar char="•"/>
            </a:pPr>
            <a:r>
              <a:rPr lang="en-US" b="1" dirty="0"/>
              <a:t> How severe are most accidents?</a:t>
            </a:r>
          </a:p>
          <a:p>
            <a:pPr>
              <a:buFont typeface="Arial" panose="020B0604020202020204" pitchFamily="34" charset="0"/>
              <a:buChar char="•"/>
            </a:pPr>
            <a:r>
              <a:rPr lang="en-US" b="1" dirty="0"/>
              <a:t> How often do accidents involve fatalities?</a:t>
            </a:r>
          </a:p>
          <a:p>
            <a:pPr>
              <a:buFont typeface="Arial" panose="020B0604020202020204" pitchFamily="34" charset="0"/>
              <a:buChar char="•"/>
            </a:pPr>
            <a:r>
              <a:rPr lang="en-US" b="1" dirty="0"/>
              <a:t> Which operators appear most frequently in accident reports?</a:t>
            </a:r>
          </a:p>
          <a:p>
            <a:r>
              <a:rPr lang="en-US" b="1" dirty="0"/>
              <a:t>These insights can help:</a:t>
            </a:r>
          </a:p>
          <a:p>
            <a:pPr>
              <a:buFont typeface="Arial" panose="020B0604020202020204" pitchFamily="34" charset="0"/>
              <a:buChar char="•"/>
            </a:pPr>
            <a:r>
              <a:rPr lang="en-US" b="1" dirty="0"/>
              <a:t> Airlines improve safety procedures</a:t>
            </a:r>
          </a:p>
          <a:p>
            <a:pPr>
              <a:buFont typeface="Arial" panose="020B0604020202020204" pitchFamily="34" charset="0"/>
              <a:buChar char="•"/>
            </a:pPr>
            <a:r>
              <a:rPr lang="en-US" b="1" dirty="0"/>
              <a:t> Regulators focus inspections</a:t>
            </a:r>
          </a:p>
          <a:p>
            <a:pPr>
              <a:buFont typeface="Arial" panose="020B0604020202020204" pitchFamily="34" charset="0"/>
              <a:buChar char="•"/>
            </a:pPr>
            <a:r>
              <a:rPr lang="en-US" b="1" dirty="0"/>
              <a:t> Insurance companies assess risk</a:t>
            </a:r>
          </a:p>
          <a:p>
            <a:endParaRPr lang="en-US" dirty="0"/>
          </a:p>
        </p:txBody>
      </p:sp>
    </p:spTree>
    <p:extLst>
      <p:ext uri="{BB962C8B-B14F-4D97-AF65-F5344CB8AC3E}">
        <p14:creationId xmlns:p14="http://schemas.microsoft.com/office/powerpoint/2010/main" val="3887127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3BEDB-4D01-598B-6D80-7CD3A374A656}"/>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FC3C25CC-A823-BFEB-583A-7113CEEE4659}"/>
              </a:ext>
            </a:extLst>
          </p:cNvPr>
          <p:cNvSpPr>
            <a:spLocks noGrp="1"/>
          </p:cNvSpPr>
          <p:nvPr>
            <p:ph idx="1"/>
          </p:nvPr>
        </p:nvSpPr>
        <p:spPr/>
        <p:txBody>
          <a:bodyPr/>
          <a:lstStyle/>
          <a:p>
            <a:pPr>
              <a:buFont typeface="Wingdings" panose="05000000000000000000" pitchFamily="2" charset="2"/>
              <a:buChar char="Ø"/>
            </a:pPr>
            <a:r>
              <a:rPr lang="en-US" dirty="0"/>
              <a:t> Understand accident trends over time.</a:t>
            </a:r>
          </a:p>
          <a:p>
            <a:pPr marL="0" indent="0">
              <a:buNone/>
            </a:pPr>
            <a:endParaRPr lang="en-US" dirty="0"/>
          </a:p>
          <a:p>
            <a:pPr>
              <a:buFont typeface="Wingdings" panose="05000000000000000000" pitchFamily="2" charset="2"/>
              <a:buChar char="Ø"/>
            </a:pPr>
            <a:r>
              <a:rPr lang="en-US" dirty="0"/>
              <a:t> Identify damage severity patterns</a:t>
            </a:r>
          </a:p>
          <a:p>
            <a:pPr marL="0" indent="0">
              <a:buNone/>
            </a:pPr>
            <a:endParaRPr lang="en-US" dirty="0"/>
          </a:p>
          <a:p>
            <a:pPr>
              <a:buFont typeface="Wingdings" panose="05000000000000000000" pitchFamily="2" charset="2"/>
              <a:buChar char="Ø"/>
            </a:pPr>
            <a:r>
              <a:rPr lang="en-US" dirty="0"/>
              <a:t> Examine fatal vs non-fatal accidents</a:t>
            </a:r>
          </a:p>
          <a:p>
            <a:pPr marL="0" indent="0">
              <a:buNone/>
            </a:pPr>
            <a:endParaRPr lang="en-US" dirty="0"/>
          </a:p>
          <a:p>
            <a:pPr>
              <a:buFont typeface="Wingdings" panose="05000000000000000000" pitchFamily="2" charset="2"/>
              <a:buChar char="Ø"/>
            </a:pPr>
            <a:r>
              <a:rPr lang="en-US" dirty="0"/>
              <a:t> Identify operators with higher accident counts</a:t>
            </a:r>
          </a:p>
          <a:p>
            <a:endParaRPr lang="en-US" dirty="0"/>
          </a:p>
        </p:txBody>
      </p:sp>
    </p:spTree>
    <p:extLst>
      <p:ext uri="{BB962C8B-B14F-4D97-AF65-F5344CB8AC3E}">
        <p14:creationId xmlns:p14="http://schemas.microsoft.com/office/powerpoint/2010/main" val="4102761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ECDD9-20CC-0101-1677-F6D5D363F59C}"/>
              </a:ext>
            </a:extLst>
          </p:cNvPr>
          <p:cNvSpPr>
            <a:spLocks noGrp="1"/>
          </p:cNvSpPr>
          <p:nvPr>
            <p:ph type="title"/>
          </p:nvPr>
        </p:nvSpPr>
        <p:spPr/>
        <p:txBody>
          <a:bodyPr>
            <a:normAutofit fontScale="90000"/>
          </a:bodyPr>
          <a:lstStyle/>
          <a:p>
            <a:br>
              <a:rPr lang="en-US" dirty="0"/>
            </a:br>
            <a:r>
              <a:rPr lang="en-US" dirty="0"/>
              <a:t>DATA ANALYSIS- EXPLORATORY DATA ANALYSIS(EDA)</a:t>
            </a:r>
          </a:p>
        </p:txBody>
      </p:sp>
      <p:sp>
        <p:nvSpPr>
          <p:cNvPr id="3" name="Content Placeholder 2">
            <a:extLst>
              <a:ext uri="{FF2B5EF4-FFF2-40B4-BE49-F238E27FC236}">
                <a16:creationId xmlns:a16="http://schemas.microsoft.com/office/drawing/2014/main" id="{7769D21A-D13E-8EF3-FE97-C9C9F2CBF70C}"/>
              </a:ext>
            </a:extLst>
          </p:cNvPr>
          <p:cNvSpPr>
            <a:spLocks noGrp="1"/>
          </p:cNvSpPr>
          <p:nvPr>
            <p:ph sz="half" idx="1"/>
          </p:nvPr>
        </p:nvSpPr>
        <p:spPr/>
        <p:txBody>
          <a:bodyPr/>
          <a:lstStyle/>
          <a:p>
            <a:r>
              <a:rPr lang="en-US" b="1" dirty="0"/>
              <a:t>Finding out the number of Accidents per year.</a:t>
            </a:r>
          </a:p>
          <a:p>
            <a:endParaRPr lang="en-US" dirty="0"/>
          </a:p>
          <a:p>
            <a:r>
              <a:rPr lang="en-US" i="1" dirty="0"/>
              <a:t>The line chart shows that the number of flight accidents peaked around 2018–2019 and declined afterward. This trend may be associated with reduced global air traffic during the COVID-19 pandemic.</a:t>
            </a:r>
            <a:endParaRPr lang="en-US" dirty="0"/>
          </a:p>
        </p:txBody>
      </p:sp>
      <p:pic>
        <p:nvPicPr>
          <p:cNvPr id="1026" name="Picture 2">
            <a:extLst>
              <a:ext uri="{FF2B5EF4-FFF2-40B4-BE49-F238E27FC236}">
                <a16:creationId xmlns:a16="http://schemas.microsoft.com/office/drawing/2014/main" id="{3A158D3A-38D2-B5E2-50D7-4EB21E6BE8D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16688" y="2153236"/>
            <a:ext cx="4638675" cy="3683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428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DA1D5-20F4-16F6-65C7-3FEF80A4C9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ED5AE4-B603-C145-C7EB-AFE0C7095DFC}"/>
              </a:ext>
            </a:extLst>
          </p:cNvPr>
          <p:cNvSpPr>
            <a:spLocks noGrp="1"/>
          </p:cNvSpPr>
          <p:nvPr>
            <p:ph sz="half" idx="1"/>
          </p:nvPr>
        </p:nvSpPr>
        <p:spPr/>
        <p:txBody>
          <a:bodyPr>
            <a:normAutofit/>
          </a:bodyPr>
          <a:lstStyle/>
          <a:p>
            <a:r>
              <a:rPr lang="en-US" dirty="0"/>
              <a:t>EDA: Damage Severity Distribution. Here we look at accidents that resulted in substantial </a:t>
            </a:r>
            <a:r>
              <a:rPr lang="en-US" dirty="0" err="1"/>
              <a:t>damage,write</a:t>
            </a:r>
            <a:r>
              <a:rPr lang="en-US" dirty="0"/>
              <a:t>-offs, Minor and no-damage.</a:t>
            </a:r>
          </a:p>
          <a:p>
            <a:pPr marL="0" indent="0">
              <a:buNone/>
            </a:pPr>
            <a:endParaRPr lang="en-US" dirty="0"/>
          </a:p>
          <a:p>
            <a:r>
              <a:rPr lang="en-US" i="1" dirty="0"/>
              <a:t>The damage severity distribution shows that most recorded accidents resulted in substantial damage, followed by write-offs. Minor and no-damage cases are relatively rare, indicating that reported accidents often involve significant aircraft damage.</a:t>
            </a:r>
            <a:endParaRPr lang="en-US" dirty="0"/>
          </a:p>
        </p:txBody>
      </p:sp>
      <p:pic>
        <p:nvPicPr>
          <p:cNvPr id="2050" name="Picture 2">
            <a:extLst>
              <a:ext uri="{FF2B5EF4-FFF2-40B4-BE49-F238E27FC236}">
                <a16:creationId xmlns:a16="http://schemas.microsoft.com/office/drawing/2014/main" id="{FFF63636-5742-DFEA-9F15-5DDB352C505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730644" y="1894901"/>
            <a:ext cx="5424720" cy="4109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364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316EB-5C82-B035-8E9D-3952107F56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6C0E3E-70DF-4DE4-0513-07D33FB4194D}"/>
              </a:ext>
            </a:extLst>
          </p:cNvPr>
          <p:cNvSpPr>
            <a:spLocks noGrp="1"/>
          </p:cNvSpPr>
          <p:nvPr>
            <p:ph sz="half" idx="1"/>
          </p:nvPr>
        </p:nvSpPr>
        <p:spPr/>
        <p:txBody>
          <a:bodyPr/>
          <a:lstStyle/>
          <a:p>
            <a:r>
              <a:rPr lang="en-US" dirty="0"/>
              <a:t>Fatal vs Non-Fatal Accidents</a:t>
            </a:r>
          </a:p>
          <a:p>
            <a:endParaRPr lang="en-US" dirty="0"/>
          </a:p>
          <a:p>
            <a:r>
              <a:rPr lang="en-US" i="1" dirty="0"/>
              <a:t>The visualization shows that the majority of flight accidents are non-fatal. Fatal accidents represent a smaller proportion of total incidents, indicating that while accidents occur, loss of life is relatively infrequent.</a:t>
            </a:r>
            <a:endParaRPr lang="en-US" dirty="0"/>
          </a:p>
        </p:txBody>
      </p:sp>
      <p:pic>
        <p:nvPicPr>
          <p:cNvPr id="3074" name="Picture 2">
            <a:extLst>
              <a:ext uri="{FF2B5EF4-FFF2-40B4-BE49-F238E27FC236}">
                <a16:creationId xmlns:a16="http://schemas.microsoft.com/office/drawing/2014/main" id="{C7E569CE-169D-6C2D-2218-F7D45FE040B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819441" y="1902087"/>
            <a:ext cx="4197425" cy="4234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124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4DA5F-F823-18DB-ABCE-8336184A7C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1B3E32-27A1-9944-6A15-050C84147CD1}"/>
              </a:ext>
            </a:extLst>
          </p:cNvPr>
          <p:cNvSpPr>
            <a:spLocks noGrp="1"/>
          </p:cNvSpPr>
          <p:nvPr>
            <p:ph sz="half" idx="1"/>
          </p:nvPr>
        </p:nvSpPr>
        <p:spPr/>
        <p:txBody>
          <a:bodyPr/>
          <a:lstStyle/>
          <a:p>
            <a:r>
              <a:rPr lang="en-US" dirty="0"/>
              <a:t>Top 10 Operators by Accident Count</a:t>
            </a:r>
          </a:p>
          <a:p>
            <a:endParaRPr lang="en-US" dirty="0"/>
          </a:p>
          <a:p>
            <a:r>
              <a:rPr lang="en-US" i="1" dirty="0"/>
              <a:t>The visualization shows that private operators account for the highest number of recorded accidents. This may be due to a large number of small private flights rather than poorer safety performance. Therefore, accident counts should be normalized by flight volume for fair comparison.</a:t>
            </a:r>
            <a:endParaRPr lang="en-US" dirty="0"/>
          </a:p>
        </p:txBody>
      </p:sp>
      <p:pic>
        <p:nvPicPr>
          <p:cNvPr id="4098" name="Picture 2">
            <a:extLst>
              <a:ext uri="{FF2B5EF4-FFF2-40B4-BE49-F238E27FC236}">
                <a16:creationId xmlns:a16="http://schemas.microsoft.com/office/drawing/2014/main" id="{FB1A55EC-417A-1D38-7741-6639BAB099F3}"/>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943811" y="2120900"/>
            <a:ext cx="5150909" cy="4092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461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AC214-AC1F-C5F2-4BF1-983FA49618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B52ECE-0E2D-7143-FD6C-D963760DD2D5}"/>
              </a:ext>
            </a:extLst>
          </p:cNvPr>
          <p:cNvSpPr>
            <a:spLocks noGrp="1"/>
          </p:cNvSpPr>
          <p:nvPr>
            <p:ph sz="half" idx="1"/>
          </p:nvPr>
        </p:nvSpPr>
        <p:spPr/>
        <p:txBody>
          <a:bodyPr/>
          <a:lstStyle/>
          <a:p>
            <a:r>
              <a:rPr lang="en-US" dirty="0"/>
              <a:t>EDA Most Frequent Accident Locations</a:t>
            </a:r>
          </a:p>
          <a:p>
            <a:r>
              <a:rPr lang="en-US" dirty="0"/>
              <a:t>This is the top ten accident prone locations</a:t>
            </a:r>
          </a:p>
        </p:txBody>
      </p:sp>
      <p:pic>
        <p:nvPicPr>
          <p:cNvPr id="5122" name="Picture 2">
            <a:extLst>
              <a:ext uri="{FF2B5EF4-FFF2-40B4-BE49-F238E27FC236}">
                <a16:creationId xmlns:a16="http://schemas.microsoft.com/office/drawing/2014/main" id="{F4171A7E-8D04-3743-CAAE-18B9CE33737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096000" y="1817783"/>
            <a:ext cx="5059364" cy="3635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6973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5271E-F757-6D70-3B4C-F584051928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2DC8F0F-D6E7-4647-DC2A-4BB13D3054BD}"/>
              </a:ext>
            </a:extLst>
          </p:cNvPr>
          <p:cNvSpPr>
            <a:spLocks noGrp="1"/>
          </p:cNvSpPr>
          <p:nvPr>
            <p:ph sz="half" idx="1"/>
          </p:nvPr>
        </p:nvSpPr>
        <p:spPr/>
        <p:txBody>
          <a:bodyPr/>
          <a:lstStyle/>
          <a:p>
            <a:r>
              <a:rPr lang="en-US" dirty="0"/>
              <a:t>EDA Distribution of Fatalities per Accident</a:t>
            </a:r>
          </a:p>
          <a:p>
            <a:r>
              <a:rPr lang="en-US" i="1" dirty="0"/>
              <a:t>Here we can see The distribution is heavily right-skewed Most accidents occur at 0 fatalities</a:t>
            </a:r>
            <a:endParaRPr lang="en-US" dirty="0"/>
          </a:p>
          <a:p>
            <a:r>
              <a:rPr lang="en-US" i="1" dirty="0"/>
              <a:t>Most flight accidents do not result in loss of life, but when fatalities occur, they can be severe.</a:t>
            </a:r>
            <a:endParaRPr lang="en-US" dirty="0"/>
          </a:p>
          <a:p>
            <a:endParaRPr lang="en-US" dirty="0"/>
          </a:p>
        </p:txBody>
      </p:sp>
      <p:sp>
        <p:nvSpPr>
          <p:cNvPr id="5" name="Rectangle 1">
            <a:extLst>
              <a:ext uri="{FF2B5EF4-FFF2-40B4-BE49-F238E27FC236}">
                <a16:creationId xmlns:a16="http://schemas.microsoft.com/office/drawing/2014/main" id="{E475D10A-B211-0507-1CE8-7F2B15336413}"/>
              </a:ext>
            </a:extLst>
          </p:cNvPr>
          <p:cNvSpPr>
            <a:spLocks noChangeArrowheads="1"/>
          </p:cNvSpPr>
          <p:nvPr/>
        </p:nvSpPr>
        <p:spPr bwMode="auto">
          <a:xfrm>
            <a:off x="0" y="0"/>
            <a:ext cx="71755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31740" rIns="91440" bIns="45720" numCol="1" anchor="ctr" anchorCtr="0" compatLnSpc="1">
            <a:prstTxWarp prst="textNoShape">
              <a:avLst/>
            </a:prstTxWarp>
            <a:spAutoFit/>
          </a:bodyPr>
          <a:lstStyle/>
          <a:p>
            <a:endParaRPr lang="en-US"/>
          </a:p>
        </p:txBody>
      </p:sp>
      <p:sp>
        <p:nvSpPr>
          <p:cNvPr id="6" name="Rectangle 2">
            <a:extLst>
              <a:ext uri="{FF2B5EF4-FFF2-40B4-BE49-F238E27FC236}">
                <a16:creationId xmlns:a16="http://schemas.microsoft.com/office/drawing/2014/main" id="{8EB260CB-97E2-FEAE-1BEF-460065ED724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79350" rIns="9144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a:ln>
                <a:noFill/>
              </a:ln>
              <a:solidFill>
                <a:srgbClr val="E3E3E3"/>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E3E3E3"/>
                </a:solidFill>
                <a:effectLst/>
                <a:latin typeface="Google Sans Text"/>
              </a:rPr>
              <a:t>EDA Distribution of Fatalities per Accident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EA3BB671-8615-3131-D76A-FE6C2840B045}"/>
              </a:ext>
            </a:extLst>
          </p:cNvPr>
          <p:cNvSpPr>
            <a:spLocks noChangeArrowheads="1"/>
          </p:cNvSpPr>
          <p:nvPr/>
        </p:nvSpPr>
        <p:spPr bwMode="auto">
          <a:xfrm>
            <a:off x="152400" y="152400"/>
            <a:ext cx="71755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31740" rIns="91440" bIns="45720" numCol="1" anchor="ctr" anchorCtr="0" compatLnSpc="1">
            <a:prstTxWarp prst="textNoShape">
              <a:avLst/>
            </a:prstTxWarp>
            <a:spAutoFit/>
          </a:bodyPr>
          <a:lstStyle/>
          <a:p>
            <a:endParaRPr lang="en-US"/>
          </a:p>
        </p:txBody>
      </p:sp>
      <p:sp>
        <p:nvSpPr>
          <p:cNvPr id="8" name="Rectangle 4">
            <a:extLst>
              <a:ext uri="{FF2B5EF4-FFF2-40B4-BE49-F238E27FC236}">
                <a16:creationId xmlns:a16="http://schemas.microsoft.com/office/drawing/2014/main" id="{F199EDDB-D215-E138-1079-F9176C755034}"/>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79350" rIns="9144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a:ln>
                <a:noFill/>
              </a:ln>
              <a:solidFill>
                <a:srgbClr val="E3E3E3"/>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E3E3E3"/>
                </a:solidFill>
                <a:effectLst/>
                <a:latin typeface="Google Sans Text"/>
              </a:rPr>
              <a:t>EDA Distribution of Fatalities per Accident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5">
            <a:extLst>
              <a:ext uri="{FF2B5EF4-FFF2-40B4-BE49-F238E27FC236}">
                <a16:creationId xmlns:a16="http://schemas.microsoft.com/office/drawing/2014/main" id="{F13664ED-F6DE-6E60-DD88-3DBABA86EB7A}"/>
              </a:ext>
            </a:extLst>
          </p:cNvPr>
          <p:cNvSpPr>
            <a:spLocks noChangeArrowheads="1"/>
          </p:cNvSpPr>
          <p:nvPr/>
        </p:nvSpPr>
        <p:spPr bwMode="auto">
          <a:xfrm>
            <a:off x="304800" y="304800"/>
            <a:ext cx="71755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31740" rIns="91440" bIns="45720" numCol="1" anchor="ctr" anchorCtr="0" compatLnSpc="1">
            <a:prstTxWarp prst="textNoShape">
              <a:avLst/>
            </a:prstTxWarp>
            <a:spAutoFit/>
          </a:bodyPr>
          <a:lstStyle/>
          <a:p>
            <a:endParaRPr lang="en-US"/>
          </a:p>
        </p:txBody>
      </p:sp>
      <p:sp>
        <p:nvSpPr>
          <p:cNvPr id="10" name="Rectangle 6">
            <a:extLst>
              <a:ext uri="{FF2B5EF4-FFF2-40B4-BE49-F238E27FC236}">
                <a16:creationId xmlns:a16="http://schemas.microsoft.com/office/drawing/2014/main" id="{508E9FB3-FCB5-2A0B-BB90-BF95CF0A9F8D}"/>
              </a:ext>
            </a:extLst>
          </p:cNvPr>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79350" rIns="9144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a:ln>
                <a:noFill/>
              </a:ln>
              <a:solidFill>
                <a:srgbClr val="E3E3E3"/>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E3E3E3"/>
                </a:solidFill>
                <a:effectLst/>
                <a:latin typeface="Google Sans Text"/>
              </a:rPr>
              <a:t>EDA Distribution of Fatalities per Accident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152" name="Picture 8">
            <a:extLst>
              <a:ext uri="{FF2B5EF4-FFF2-40B4-BE49-F238E27FC236}">
                <a16:creationId xmlns:a16="http://schemas.microsoft.com/office/drawing/2014/main" id="{7A81F98C-B9FD-1602-0B72-DD1F314A064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637592" y="1928985"/>
            <a:ext cx="5517771" cy="4328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2338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7B03-D14E-B699-1C2C-F1772A6CD9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79C0B9-657F-4050-9451-8F0988A140A4}"/>
              </a:ext>
            </a:extLst>
          </p:cNvPr>
          <p:cNvSpPr>
            <a:spLocks noGrp="1"/>
          </p:cNvSpPr>
          <p:nvPr>
            <p:ph sz="half" idx="1"/>
          </p:nvPr>
        </p:nvSpPr>
        <p:spPr/>
        <p:txBody>
          <a:bodyPr/>
          <a:lstStyle/>
          <a:p>
            <a:r>
              <a:rPr lang="en-US" dirty="0"/>
              <a:t>FINDING OUT THE CORRELATION BETWEEN DAMAGE TYPE AND FATALITIES</a:t>
            </a:r>
          </a:p>
          <a:p>
            <a:endParaRPr lang="en-US" dirty="0"/>
          </a:p>
          <a:p>
            <a:r>
              <a:rPr lang="en-US" i="1" dirty="0"/>
              <a:t>Higher damage severity correlates with fatalities. The more the damage to an aircraft the more its likely to have fatalities</a:t>
            </a:r>
            <a:endParaRPr lang="en-US" dirty="0"/>
          </a:p>
        </p:txBody>
      </p:sp>
      <p:pic>
        <p:nvPicPr>
          <p:cNvPr id="7170" name="Picture 2">
            <a:extLst>
              <a:ext uri="{FF2B5EF4-FFF2-40B4-BE49-F238E27FC236}">
                <a16:creationId xmlns:a16="http://schemas.microsoft.com/office/drawing/2014/main" id="{2661A938-6741-3552-5581-82FB751955F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68598" y="1854256"/>
            <a:ext cx="4786123" cy="4042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073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D302-2312-1673-1F53-F8BC529C97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72560E-4687-8D81-1005-A641BFC6EB53}"/>
              </a:ext>
            </a:extLst>
          </p:cNvPr>
          <p:cNvSpPr>
            <a:spLocks noGrp="1"/>
          </p:cNvSpPr>
          <p:nvPr>
            <p:ph sz="half" idx="1"/>
          </p:nvPr>
        </p:nvSpPr>
        <p:spPr/>
        <p:txBody>
          <a:bodyPr/>
          <a:lstStyle/>
          <a:p>
            <a:r>
              <a:rPr lang="en-US" dirty="0"/>
              <a:t>Finding out the Number of Accidents by Month</a:t>
            </a:r>
          </a:p>
          <a:p>
            <a:endParaRPr lang="en-US" dirty="0"/>
          </a:p>
          <a:p>
            <a:r>
              <a:rPr lang="en-US" i="1" dirty="0"/>
              <a:t>The line chart shows the distribution of flight accidents across months. Variations in accident counts suggest seasonality, possibly influenced by weather conditions, peak travel periods, and operational factors.</a:t>
            </a:r>
            <a:endParaRPr lang="en-US" dirty="0"/>
          </a:p>
        </p:txBody>
      </p:sp>
      <p:pic>
        <p:nvPicPr>
          <p:cNvPr id="8194" name="Picture 2">
            <a:extLst>
              <a:ext uri="{FF2B5EF4-FFF2-40B4-BE49-F238E27FC236}">
                <a16:creationId xmlns:a16="http://schemas.microsoft.com/office/drawing/2014/main" id="{B510D99C-5FA1-4E1C-8C7F-432900930530}"/>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982160" y="2120900"/>
            <a:ext cx="5173204" cy="3993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9252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04F6E-C6B2-46CC-068A-41FB7FD5FF1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791A692F-26E0-22DE-786D-B26E15F0E055}"/>
              </a:ext>
            </a:extLst>
          </p:cNvPr>
          <p:cNvSpPr>
            <a:spLocks noGrp="1"/>
          </p:cNvSpPr>
          <p:nvPr>
            <p:ph idx="1"/>
          </p:nvPr>
        </p:nvSpPr>
        <p:spPr/>
        <p:txBody>
          <a:bodyPr>
            <a:normAutofit lnSpcReduction="10000"/>
          </a:bodyPr>
          <a:lstStyle/>
          <a:p>
            <a:pPr marL="457200" indent="-457200">
              <a:buFont typeface="+mj-lt"/>
              <a:buAutoNum type="arabicPeriod"/>
            </a:pPr>
            <a:r>
              <a:rPr lang="en-US" dirty="0"/>
              <a:t>Accident Frequency Has Declined in Recent Years. The yearly trend shows a reduction in accidents, especially after 2019.</a:t>
            </a:r>
          </a:p>
          <a:p>
            <a:pPr marL="457200" indent="-457200">
              <a:buFont typeface="+mj-lt"/>
              <a:buAutoNum type="arabicPeriod"/>
            </a:pPr>
            <a:r>
              <a:rPr lang="en-US" dirty="0"/>
              <a:t>Most Accidents Are Non-Fatal. The fatal vs non-fatal analysis shows that the majority of accidents do not result in fatalities.</a:t>
            </a:r>
          </a:p>
          <a:p>
            <a:pPr marL="457200" indent="-457200">
              <a:buFont typeface="+mj-lt"/>
              <a:buAutoNum type="arabicPeriod"/>
            </a:pPr>
            <a:r>
              <a:rPr lang="en-US" dirty="0"/>
              <a:t>Substantial and Write-Off Damage Is Common. Damage severity analysis shows that most reported accidents involve significant aircraft damage.</a:t>
            </a:r>
          </a:p>
          <a:p>
            <a:pPr marL="457200" indent="-457200">
              <a:buFont typeface="+mj-lt"/>
              <a:buAutoNum type="arabicPeriod"/>
            </a:pPr>
            <a:r>
              <a:rPr lang="en-US" dirty="0"/>
              <a:t>Accident Frequency Varies by Month. Environmental and operational factors influence accident occurrence.</a:t>
            </a:r>
          </a:p>
          <a:p>
            <a:pPr marL="457200" indent="-457200">
              <a:buFont typeface="+mj-lt"/>
              <a:buAutoNum type="arabicPeriod"/>
            </a:pPr>
            <a:r>
              <a:rPr lang="en-US" dirty="0"/>
              <a:t>Private Operators Appear Frequently in Accident Records. This may be due to Larger number of small private flights.</a:t>
            </a:r>
          </a:p>
          <a:p>
            <a:endParaRPr lang="en-US" dirty="0"/>
          </a:p>
        </p:txBody>
      </p:sp>
    </p:spTree>
    <p:extLst>
      <p:ext uri="{BB962C8B-B14F-4D97-AF65-F5344CB8AC3E}">
        <p14:creationId xmlns:p14="http://schemas.microsoft.com/office/powerpoint/2010/main" val="2931808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9B88-DAEF-208D-D0FF-6C6981CF1506}"/>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7A4B5C9D-0011-908F-A86D-ED249B1574A1}"/>
              </a:ext>
            </a:extLst>
          </p:cNvPr>
          <p:cNvSpPr>
            <a:spLocks noGrp="1"/>
          </p:cNvSpPr>
          <p:nvPr>
            <p:ph idx="1"/>
          </p:nvPr>
        </p:nvSpPr>
        <p:spPr/>
        <p:txBody>
          <a:bodyPr>
            <a:normAutofit fontScale="92500" lnSpcReduction="10000"/>
          </a:bodyPr>
          <a:lstStyle/>
          <a:p>
            <a:pPr marL="457200" indent="-457200">
              <a:buFont typeface="+mj-lt"/>
              <a:buAutoNum type="arabicPeriod"/>
            </a:pPr>
            <a:r>
              <a:rPr lang="en-US" dirty="0"/>
              <a:t>Seasonal Risk Mitigation. Increase inspections, crew training, and operational caution during high-risk months.</a:t>
            </a:r>
          </a:p>
          <a:p>
            <a:pPr marL="457200" indent="-457200">
              <a:buFont typeface="+mj-lt"/>
              <a:buAutoNum type="arabicPeriod"/>
            </a:pPr>
            <a:r>
              <a:rPr lang="en-US" dirty="0"/>
              <a:t>Improve Safety Oversight for Private Operators. Strengthen regulations and audits for private and charter operators.</a:t>
            </a:r>
          </a:p>
          <a:p>
            <a:pPr marL="457200" indent="-457200">
              <a:buFont typeface="+mj-lt"/>
              <a:buAutoNum type="arabicPeriod"/>
            </a:pPr>
            <a:r>
              <a:rPr lang="en-US" dirty="0"/>
              <a:t>Enhance Data Collection to include Weather conditions, Aircraft age. Richer data enables better predictive modeling and policy decisions.</a:t>
            </a:r>
          </a:p>
          <a:p>
            <a:r>
              <a:rPr lang="en-US" i="1" dirty="0"/>
              <a:t>The analysis indicates that while flight accidents still occur, the majority are non-fatal and accident frequency has declined over time. However, a small number of catastrophic events account for a disproportionate share of fatalities. Seasonal patterns and operator characteristics further influence accident occurrence. These findings suggest that aviation safety efforts should focus not only on reducing accident frequency but also on mitigating the severity of rare high-impact events.</a:t>
            </a:r>
            <a:endParaRPr lang="en-US" dirty="0"/>
          </a:p>
        </p:txBody>
      </p:sp>
    </p:spTree>
    <p:extLst>
      <p:ext uri="{BB962C8B-B14F-4D97-AF65-F5344CB8AC3E}">
        <p14:creationId xmlns:p14="http://schemas.microsoft.com/office/powerpoint/2010/main" val="253878600"/>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{41A73785-FB91-4BDB-91F1-CB2B4EB3D9C3}TFb63a7776-4452-49b2-8055-21efce632b726e3c8758_win32-7d1db0309ca7</Template>
  <TotalTime>46</TotalTime>
  <Words>678</Words>
  <Application>Microsoft Office PowerPoint</Application>
  <PresentationFormat>Widescreen</PresentationFormat>
  <Paragraphs>61</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Bookman Old Style</vt:lpstr>
      <vt:lpstr>Calibri</vt:lpstr>
      <vt:lpstr>Franklin Gothic Book</vt:lpstr>
      <vt:lpstr>Google Sans Text</vt:lpstr>
      <vt:lpstr>Wingdings</vt:lpstr>
      <vt:lpstr>Custom</vt:lpstr>
      <vt:lpstr>Title: Aircraft Accident Analysis and Safety Insights</vt:lpstr>
      <vt:lpstr>BUSINESS UNDERSTANDING </vt:lpstr>
      <vt:lpstr>OBJECTIVES</vt:lpstr>
      <vt:lpstr> DATA ANALYSIS- EXPLORATORY DATA ANALYSIS(EDA)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Patrick Njoroge</dc:creator>
  <cp:lastModifiedBy>Patrick Njoroge</cp:lastModifiedBy>
  <cp:revision>2</cp:revision>
  <dcterms:created xsi:type="dcterms:W3CDTF">2026-02-02T08:48:29Z</dcterms:created>
  <dcterms:modified xsi:type="dcterms:W3CDTF">2026-02-02T09:35:15Z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